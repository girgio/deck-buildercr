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5F29"/>
    <a:srgbClr val="CC9B00"/>
    <a:srgbClr val="B2B2B2"/>
    <a:srgbClr val="FEC200"/>
    <a:srgbClr val="DAA520"/>
    <a:srgbClr val="6546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44B6D-063E-4B12-93E0-CC6EC9177B09}" v="260" dt="2026-01-27T00:40:44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6" d="100"/>
          <a:sy n="106" d="100"/>
        </p:scale>
        <p:origin x="10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73E77-B6F3-8AB4-D779-7750E424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4F22A9-FB23-B9E4-49AA-A433122C2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CA3E41-394C-9B73-3A49-9956CCDB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3415C6-CF99-3364-3248-117BB75A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A2B339-432B-6095-0BEA-624ECB5A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3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756E6-77D9-C584-3970-F990438A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E52D70-C3BB-4FEE-F051-BD606ABC7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0EE23C-B8FF-A326-EE81-FD1CE70D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212D2-38B9-5BF8-834B-17C93AEF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F4B52B-2235-C9D4-BFCD-FEA9A24D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08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822EB-E7BF-1CB2-281E-76FE5618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3A141-0DF9-A1F2-7F27-DEF96CE8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170FAF-0375-5F53-2A99-4E091D05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8D2969-7ED9-162D-408B-996E0BD4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447688-DBC8-17E4-4DD9-B6DED2CF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535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93AC7-BC11-9E70-2B57-8EB3D065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9F46A2-3208-959A-5A98-D1B796303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43F8DA-2F76-F56D-1A0E-DE8AF98AD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04EDED-202E-DF36-FE87-646747D8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6A2ED4-1B99-DF8E-6586-D2DC1FF4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7959D28-AEA0-157E-FC58-E9397CF1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241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24E0F6-E0F7-A6F7-6456-9AB1DA2E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F60727-8220-F29E-5816-2B042797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B286CA-62A0-F964-147A-C9CFC986B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BEDEA1-46F1-2300-B1CD-2F7C50CE1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A58068-0BAE-661B-39C4-B67F7AB8E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FCAAE7-7393-F86E-EA27-DE6493F4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A93F7FB-FF73-9C06-D01A-B53B98FA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121393-C954-8951-2A13-CA230C48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15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840D9-88A7-9A37-1805-C22192F7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E471388-80C9-A345-6DA0-BE29658C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68AFA5-E321-F9E5-9786-D25EBFBD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715625F-A2BD-76F6-CDE4-8ABCA51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95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89689D-5970-9F73-9897-65D58DB6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A2A61A-0A1A-0E17-A21C-D0427E30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822305-8355-1D62-4DA1-821077ED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31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7603C0-998A-4392-E675-7C4621A5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F6EACF-4445-2506-0EA8-334C9560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FBAEEE-283E-4241-D0B2-2E867C78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EE63A4-6A1E-E13D-BC70-FA6AD1C5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A12054-A96E-1771-CFE7-3F295F8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9ECB87-4249-29A3-F45F-35A0A054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34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11BBD-0439-8B1C-CD0F-2DDCDEBA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A6983EC-8465-6339-24C4-727E4C503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00543C4-85EF-3A45-4724-E4D6EFB04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FBB096-76C2-25BB-0A73-B6A06315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BCC244-2895-D5E3-D135-0155A381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220B61-4699-05F6-45FD-E71F05F8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375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82EE25-7A71-A8E7-B8D6-D2BBCAB8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B93629-AA7B-EC74-94B1-B93058131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10E38-0EEE-BE7F-8139-B6AB7CC0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C5678A-96CF-8EED-9483-1AD96D15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FD9316-8FAA-0119-A30F-34029DD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57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2DDA7DE-5868-7390-C82A-DDE99F62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29915B2-EED5-82D8-D6FD-D47D9D1A9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C936C7-C746-D5B0-5189-5B580E8B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CA5E2B-70AD-CC6E-3AD8-4410D8CA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BC14EF-2A80-AFDE-DDD4-D2A7E4D3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64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E01E23-FC35-40C9-9925-A6A88AF5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CD7EF6-5391-404B-F507-BB5F372B2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878264-D95C-AE89-90E6-C16D9007B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4F67A-09A3-4137-9BD6-4DB7F5D73E6F}" type="datetimeFigureOut">
              <a:rPr lang="it-IT" smtClean="0"/>
              <a:t>27/01/2026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AA534E-B026-1674-F7EA-DE29E6893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5EDD6F-9FF5-72B8-EFF8-215371373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67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jpe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6.jpe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D5304-9C72-1AAA-EE7A-A3B6C2743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2714BB-ACCE-3BA9-2E24-D84406525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C5EF611-2C92-42F5-22A7-0FF5DF4E6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0" name="Immagine 9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DC6CF22-9F29-5A08-3533-B7D10BFD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860" y="1889250"/>
            <a:ext cx="2568464" cy="2568464"/>
          </a:xfrm>
          <a:prstGeom prst="rect">
            <a:avLst/>
          </a:prstGeom>
        </p:spPr>
      </p:pic>
      <p:pic>
        <p:nvPicPr>
          <p:cNvPr id="12" name="Immagine 11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2E3AAAF5-AA66-F44C-F298-5AA3B389E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83415"/>
            <a:ext cx="1335654" cy="1335654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8CEB0D8F-0C08-5C1D-8620-FBF79548B238}"/>
              </a:ext>
            </a:extLst>
          </p:cNvPr>
          <p:cNvSpPr/>
          <p:nvPr/>
        </p:nvSpPr>
        <p:spPr>
          <a:xfrm>
            <a:off x="4998669" y="2307738"/>
            <a:ext cx="2877711" cy="101566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6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Deck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F053586-2712-CFA6-90CF-20EAAD4C3B0C}"/>
              </a:ext>
            </a:extLst>
          </p:cNvPr>
          <p:cNvSpPr txBox="1"/>
          <p:nvPr/>
        </p:nvSpPr>
        <p:spPr>
          <a:xfrm>
            <a:off x="676885" y="3065376"/>
            <a:ext cx="7199495" cy="92333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B</a:t>
            </a:r>
            <a:r>
              <a:rPr lang="it-IT" sz="5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uilder</a:t>
            </a: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CR</a:t>
            </a:r>
          </a:p>
        </p:txBody>
      </p:sp>
      <p:pic>
        <p:nvPicPr>
          <p:cNvPr id="22" name="Immagine 21" descr="Immagine che contiene quadrato, Simmetria, arte, modello">
            <a:extLst>
              <a:ext uri="{FF2B5EF4-FFF2-40B4-BE49-F238E27FC236}">
                <a16:creationId xmlns:a16="http://schemas.microsoft.com/office/drawing/2014/main" id="{6F6C5A0D-119A-F275-70C4-2382BE583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42" y="4969457"/>
            <a:ext cx="2794420" cy="1745500"/>
          </a:xfrm>
          <a:prstGeom prst="rect">
            <a:avLst/>
          </a:prstGeom>
        </p:spPr>
      </p:pic>
      <p:pic>
        <p:nvPicPr>
          <p:cNvPr id="26" name="Immagine 25" descr="Immagine che contiene quadrato, Simmetria, arte, modello">
            <a:extLst>
              <a:ext uri="{FF2B5EF4-FFF2-40B4-BE49-F238E27FC236}">
                <a16:creationId xmlns:a16="http://schemas.microsoft.com/office/drawing/2014/main" id="{4C1F0DBA-C75B-670C-2AD4-929AFB2BB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04" y="4976707"/>
            <a:ext cx="2794420" cy="1745500"/>
          </a:xfrm>
          <a:prstGeom prst="rect">
            <a:avLst/>
          </a:prstGeom>
        </p:spPr>
      </p:pic>
      <p:pic>
        <p:nvPicPr>
          <p:cNvPr id="11" name="Immagine 10" descr="Immagine che contiene cartone animato, giocattolo, Personaggio immaginario, robot&#10;&#10;Il contenuto generato dall'IA potrebbe non essere corretto.">
            <a:extLst>
              <a:ext uri="{FF2B5EF4-FFF2-40B4-BE49-F238E27FC236}">
                <a16:creationId xmlns:a16="http://schemas.microsoft.com/office/drawing/2014/main" id="{D37EF534-9C16-742C-DF13-BDBC72155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52" y="5226473"/>
            <a:ext cx="1083450" cy="1245968"/>
          </a:xfrm>
          <a:prstGeom prst="rect">
            <a:avLst/>
          </a:prstGeom>
        </p:spPr>
      </p:pic>
      <p:pic>
        <p:nvPicPr>
          <p:cNvPr id="18" name="Immagine 17" descr="Immagine che contiene Personaggio immaginario, Animazione, Cartoni animati, narrativa&#10;&#10;Il contenuto generato dall'IA potrebbe non essere corretto.">
            <a:extLst>
              <a:ext uri="{FF2B5EF4-FFF2-40B4-BE49-F238E27FC236}">
                <a16:creationId xmlns:a16="http://schemas.microsoft.com/office/drawing/2014/main" id="{F8BE58BE-3052-939C-4C9E-4704C5519F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45" y="5257800"/>
            <a:ext cx="1847977" cy="1154317"/>
          </a:xfrm>
          <a:prstGeom prst="rect">
            <a:avLst/>
          </a:prstGeom>
        </p:spPr>
      </p:pic>
      <p:pic>
        <p:nvPicPr>
          <p:cNvPr id="27" name="Immagine 26" descr="Immagine che contiene quadrato, Simmetria, arte, modello">
            <a:extLst>
              <a:ext uri="{FF2B5EF4-FFF2-40B4-BE49-F238E27FC236}">
                <a16:creationId xmlns:a16="http://schemas.microsoft.com/office/drawing/2014/main" id="{05E31AA0-1399-FE5C-6AA7-CACABD76B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465" y="4969457"/>
            <a:ext cx="2794420" cy="1745500"/>
          </a:xfrm>
          <a:prstGeom prst="rect">
            <a:avLst/>
          </a:prstGeom>
        </p:spPr>
      </p:pic>
      <p:pic>
        <p:nvPicPr>
          <p:cNvPr id="8" name="Immagine 7" descr="Immagine che contiene persona,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B1E09F21-BC2D-42E6-564C-95DF9AE7D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233" y="5240103"/>
            <a:ext cx="733565" cy="1288017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F54E207-6F6B-EF07-21F2-7095C974793E}"/>
              </a:ext>
            </a:extLst>
          </p:cNvPr>
          <p:cNvSpPr txBox="1"/>
          <p:nvPr/>
        </p:nvSpPr>
        <p:spPr>
          <a:xfrm>
            <a:off x="2675547" y="4459209"/>
            <a:ext cx="2230009" cy="52322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Giovanni </a:t>
            </a:r>
          </a:p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De Caro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B14A7B1-7DE1-6A84-36E7-B5B98D42E206}"/>
              </a:ext>
            </a:extLst>
          </p:cNvPr>
          <p:cNvSpPr txBox="1"/>
          <p:nvPr/>
        </p:nvSpPr>
        <p:spPr>
          <a:xfrm>
            <a:off x="4888310" y="4432305"/>
            <a:ext cx="218468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Francesco </a:t>
            </a:r>
            <a:r>
              <a:rPr kumimoji="0" lang="it-IT" sz="1400" b="1" i="0" u="none" strike="noStrike" kern="1200" cap="none" spc="0" normalizeH="0" baseline="0" noProof="0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Maistirni</a:t>
            </a:r>
            <a:endParaRPr kumimoji="0" lang="it-IT" sz="14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85000"/>
                </a:prstClr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DC5D8F0-9CF3-135A-A7DC-4F1474B5DB37}"/>
              </a:ext>
            </a:extLst>
          </p:cNvPr>
          <p:cNvSpPr txBox="1"/>
          <p:nvPr/>
        </p:nvSpPr>
        <p:spPr>
          <a:xfrm>
            <a:off x="7224025" y="4437128"/>
            <a:ext cx="1633299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Mauro Gorga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A06095C9-98E4-8A85-B31E-3B12D5125481}"/>
              </a:ext>
            </a:extLst>
          </p:cNvPr>
          <p:cNvSpPr/>
          <p:nvPr/>
        </p:nvSpPr>
        <p:spPr>
          <a:xfrm>
            <a:off x="-45757" y="0"/>
            <a:ext cx="4691237" cy="70788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2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Corso di Fondamenti di</a:t>
            </a:r>
          </a:p>
          <a:p>
            <a:r>
              <a:rPr lang="it-IT" sz="2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Intelligenza artificiale</a:t>
            </a:r>
            <a:endParaRPr lang="it-IT" sz="20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6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5EBC2-F216-85DE-5F39-CA4D29B0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E945887-EA56-9387-875B-C2D7858A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7" y="-9052"/>
            <a:ext cx="12191999" cy="6858000"/>
          </a:xfrm>
          <a:prstGeom prst="rect">
            <a:avLst/>
          </a:prstGeom>
        </p:spPr>
      </p:pic>
      <p:pic>
        <p:nvPicPr>
          <p:cNvPr id="6" name="Segnaposto contenuto 5" descr="Immagine che contiene giocattolo, Personaggio immaginario, Animazione, figurina&#10;&#10;Il contenuto generato dall'IA potrebbe non essere corretto.">
            <a:extLst>
              <a:ext uri="{FF2B5EF4-FFF2-40B4-BE49-F238E27FC236}">
                <a16:creationId xmlns:a16="http://schemas.microsoft.com/office/drawing/2014/main" id="{73B8DFD0-6E1C-2205-F5EA-080C99019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731" y="2929731"/>
            <a:ext cx="4109244" cy="4109244"/>
          </a:xfrm>
        </p:spPr>
      </p:pic>
      <p:pic>
        <p:nvPicPr>
          <p:cNvPr id="8" name="Immagine 7" descr="Immagine che contiene clipart, Elementi grafici, cartone animato, grafica&#10;&#10;Il contenuto generato dall'IA potrebbe non essere corretto.">
            <a:extLst>
              <a:ext uri="{FF2B5EF4-FFF2-40B4-BE49-F238E27FC236}">
                <a16:creationId xmlns:a16="http://schemas.microsoft.com/office/drawing/2014/main" id="{29B59904-8B2F-3C3B-9356-70FDE1CA3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00925" y="3781451"/>
            <a:ext cx="2641600" cy="1868723"/>
          </a:xfrm>
          <a:prstGeom prst="rect">
            <a:avLst/>
          </a:prstGeom>
        </p:spPr>
      </p:pic>
      <p:pic>
        <p:nvPicPr>
          <p:cNvPr id="10" name="Immagine 9" descr="Immagine che contiene testo, schermata, slot machin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8A876D86-77C4-F1D3-E35C-0582310EE1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3" b="54754"/>
          <a:stretch>
            <a:fillRect/>
          </a:stretch>
        </p:blipFill>
        <p:spPr>
          <a:xfrm>
            <a:off x="1191629" y="1448444"/>
            <a:ext cx="3346241" cy="607370"/>
          </a:xfrm>
          <a:prstGeom prst="rect">
            <a:avLst/>
          </a:prstGeom>
        </p:spPr>
      </p:pic>
      <p:pic>
        <p:nvPicPr>
          <p:cNvPr id="12" name="Immagine 11" descr="Immagine che contiene Viso umano, cartone animato, Cartoni animati, schermata&#10;&#10;Il contenuto generato dall'IA potrebbe non essere corretto.">
            <a:extLst>
              <a:ext uri="{FF2B5EF4-FFF2-40B4-BE49-F238E27FC236}">
                <a16:creationId xmlns:a16="http://schemas.microsoft.com/office/drawing/2014/main" id="{6AF7E512-1179-5665-FCEF-3DBF6BBA32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98" y="4984353"/>
            <a:ext cx="2133303" cy="158291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B08C66B-916F-99DD-8B27-AA9A9C90FA81}"/>
              </a:ext>
            </a:extLst>
          </p:cNvPr>
          <p:cNvSpPr txBox="1"/>
          <p:nvPr/>
        </p:nvSpPr>
        <p:spPr>
          <a:xfrm>
            <a:off x="-245163" y="904013"/>
            <a:ext cx="6219824" cy="584775"/>
          </a:xfrm>
          <a:prstGeom prst="rect">
            <a:avLst/>
          </a:prstGeom>
          <a:noFill/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7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121 CARTE!!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7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52E3B6D8-13C5-9704-D48C-AEA0A19FCCF3}"/>
              </a:ext>
            </a:extLst>
          </p:cNvPr>
          <p:cNvSpPr/>
          <p:nvPr/>
        </p:nvSpPr>
        <p:spPr>
          <a:xfrm>
            <a:off x="2507111" y="2594701"/>
            <a:ext cx="715274" cy="1630320"/>
          </a:xfrm>
          <a:prstGeom prst="down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endParaRPr lang="it-IT"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3C491CD-F2DD-B55D-288A-62A86C972DA0}"/>
              </a:ext>
            </a:extLst>
          </p:cNvPr>
          <p:cNvSpPr txBox="1"/>
          <p:nvPr/>
        </p:nvSpPr>
        <p:spPr>
          <a:xfrm>
            <a:off x="-227845" y="4538840"/>
            <a:ext cx="6323844" cy="35394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lvl="0" algn="ctr">
              <a:defRPr/>
            </a:pPr>
            <a:r>
              <a:rPr lang="it-IT" sz="17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914.760.240 deck possibili!</a:t>
            </a:r>
            <a:endParaRPr kumimoji="0" lang="it-IT" sz="1700" b="1" i="0" u="none" strike="noStrike" kern="1200" cap="none" spc="0" normalizeH="0" baseline="0" noProof="0" dirty="0">
              <a:ln w="9525">
                <a:noFill/>
                <a:prstDash val="solid"/>
              </a:ln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18" name="Fumetto: rettangolo con angoli arrotondati 17">
            <a:extLst>
              <a:ext uri="{FF2B5EF4-FFF2-40B4-BE49-F238E27FC236}">
                <a16:creationId xmlns:a16="http://schemas.microsoft.com/office/drawing/2014/main" id="{B2A41347-A0DF-A81E-D236-474953BDDA21}"/>
              </a:ext>
            </a:extLst>
          </p:cNvPr>
          <p:cNvSpPr/>
          <p:nvPr/>
        </p:nvSpPr>
        <p:spPr>
          <a:xfrm flipH="1">
            <a:off x="7599604" y="1276539"/>
            <a:ext cx="3346242" cy="204446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D803CF5-AA23-D8A7-F60E-8F36DB7BE2E5}"/>
              </a:ext>
            </a:extLst>
          </p:cNvPr>
          <p:cNvSpPr txBox="1"/>
          <p:nvPr/>
        </p:nvSpPr>
        <p:spPr>
          <a:xfrm>
            <a:off x="6099738" y="1475347"/>
            <a:ext cx="6337424" cy="15696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Ho appena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You Blockhead" panose="03020502050602020205" pitchFamily="66" charset="0"/>
              </a:rPr>
              <a:t>iniziato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giocare</a:t>
            </a:r>
          </a:p>
        </p:txBody>
      </p:sp>
    </p:spTree>
    <p:extLst>
      <p:ext uri="{BB962C8B-B14F-4D97-AF65-F5344CB8AC3E}">
        <p14:creationId xmlns:p14="http://schemas.microsoft.com/office/powerpoint/2010/main" val="180741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230EB-1898-FA42-7FAE-E39E7ABA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FCFDF29-A457-397C-4287-71F518B0F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Segnaposto contenuto 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EB31BF2-00CC-529B-8734-061FD249A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4" b="36655"/>
          <a:stretch>
            <a:fillRect/>
          </a:stretch>
        </p:blipFill>
        <p:spPr>
          <a:xfrm>
            <a:off x="1021836" y="692499"/>
            <a:ext cx="2292864" cy="2452328"/>
          </a:xfrm>
        </p:spPr>
      </p:pic>
      <p:pic>
        <p:nvPicPr>
          <p:cNvPr id="5" name="Immagine 4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2863848-80D5-F247-9052-CBE118B98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1027906"/>
            <a:ext cx="1670589" cy="1670589"/>
          </a:xfrm>
          <a:prstGeom prst="rect">
            <a:avLst/>
          </a:prstGeom>
        </p:spPr>
      </p:pic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63937566-83AD-A464-D102-6247C9AF5E02}"/>
              </a:ext>
            </a:extLst>
          </p:cNvPr>
          <p:cNvSpPr/>
          <p:nvPr/>
        </p:nvSpPr>
        <p:spPr>
          <a:xfrm rot="16200000">
            <a:off x="3967284" y="1112064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3938D8AD-31E9-B0E8-C6B9-BB57C1BE1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1863200"/>
            <a:ext cx="1885918" cy="1178015"/>
          </a:xfrm>
          <a:prstGeom prst="rect">
            <a:avLst/>
          </a:prstGeom>
        </p:spPr>
      </p:pic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900AD0EA-042C-E410-1CCD-6AAF04F8FD0E}"/>
              </a:ext>
            </a:extLst>
          </p:cNvPr>
          <p:cNvSpPr/>
          <p:nvPr/>
        </p:nvSpPr>
        <p:spPr>
          <a:xfrm rot="16200000">
            <a:off x="7452441" y="108601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343B9D4-717B-4E36-3E01-5A7E814D2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6806"/>
          <a:stretch>
            <a:fillRect/>
          </a:stretch>
        </p:blipFill>
        <p:spPr>
          <a:xfrm>
            <a:off x="8956371" y="647551"/>
            <a:ext cx="2329673" cy="2497276"/>
          </a:xfrm>
          <a:prstGeom prst="rect">
            <a:avLst/>
          </a:prstGeom>
        </p:spPr>
      </p:pic>
      <p:pic>
        <p:nvPicPr>
          <p:cNvPr id="19" name="Immagine 1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C8A948B-B199-A293-0989-0518C01346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6" b="36666"/>
          <a:stretch>
            <a:fillRect/>
          </a:stretch>
        </p:blipFill>
        <p:spPr>
          <a:xfrm>
            <a:off x="998200" y="3906579"/>
            <a:ext cx="2340136" cy="2452327"/>
          </a:xfrm>
          <a:prstGeom prst="rect">
            <a:avLst/>
          </a:prstGeom>
        </p:spPr>
      </p:pic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A0C575A4-F2A6-4757-E16C-CE5FA4719BE6}"/>
              </a:ext>
            </a:extLst>
          </p:cNvPr>
          <p:cNvSpPr/>
          <p:nvPr/>
        </p:nvSpPr>
        <p:spPr>
          <a:xfrm rot="16200000">
            <a:off x="3967284" y="431202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8138135-32C6-7E72-6880-80A0AA01A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4253915"/>
            <a:ext cx="1670589" cy="1670589"/>
          </a:xfrm>
          <a:prstGeom prst="rect">
            <a:avLst/>
          </a:prstGeom>
        </p:spPr>
      </p:pic>
      <p:pic>
        <p:nvPicPr>
          <p:cNvPr id="21" name="Immagine 20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8E26A57F-2473-D782-C269-B6937BE79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5089209"/>
            <a:ext cx="1885918" cy="1178015"/>
          </a:xfrm>
          <a:prstGeom prst="rect">
            <a:avLst/>
          </a:prstGeom>
        </p:spPr>
      </p:pic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3FFCC9D3-78A6-26F7-E1F8-0648476D7EBA}"/>
              </a:ext>
            </a:extLst>
          </p:cNvPr>
          <p:cNvSpPr/>
          <p:nvPr/>
        </p:nvSpPr>
        <p:spPr>
          <a:xfrm rot="16200000">
            <a:off x="7452439" y="4292165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Immagine 2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8376EA4-C553-5DA5-2CF7-E7D27DB55F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8914135" y="3874882"/>
            <a:ext cx="2414143" cy="25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DABF7F-E50C-B367-6A7A-DF83195F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A26DC0F9-9415-6EAD-5353-C27FA85B9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Segnaposto contenuto 7" descr="Immagine che contiene cartone animato, computer, persona&#10;&#10;Il contenuto generato dall'IA potrebbe non essere corretto.">
            <a:extLst>
              <a:ext uri="{FF2B5EF4-FFF2-40B4-BE49-F238E27FC236}">
                <a16:creationId xmlns:a16="http://schemas.microsoft.com/office/drawing/2014/main" id="{CF459176-8701-F71D-FCEC-F1204D560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824" y="3117850"/>
            <a:ext cx="6572250" cy="4105275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78A211-031D-971C-99BA-ED5091740506}"/>
              </a:ext>
            </a:extLst>
          </p:cNvPr>
          <p:cNvSpPr txBox="1"/>
          <p:nvPr/>
        </p:nvSpPr>
        <p:spPr>
          <a:xfrm>
            <a:off x="3289662" y="482600"/>
            <a:ext cx="8483238" cy="230832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Come funziona?</a:t>
            </a:r>
          </a:p>
        </p:txBody>
      </p:sp>
      <p:pic>
        <p:nvPicPr>
          <p:cNvPr id="12" name="Immagine 11" descr="Immagine che contiene clipart, sorriso, Elementi grafici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332D49A9-093A-36C6-31F1-E8C9ACC69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8631" y="2463998"/>
            <a:ext cx="4513799" cy="3146228"/>
          </a:xfrm>
          <a:prstGeom prst="rect">
            <a:avLst/>
          </a:prstGeom>
        </p:spPr>
      </p:pic>
      <p:sp>
        <p:nvSpPr>
          <p:cNvPr id="13" name="Fumetto: rettangolo con angoli arrotondati 12">
            <a:extLst>
              <a:ext uri="{FF2B5EF4-FFF2-40B4-BE49-F238E27FC236}">
                <a16:creationId xmlns:a16="http://schemas.microsoft.com/office/drawing/2014/main" id="{43DDA745-6874-176A-4459-13D21E196050}"/>
              </a:ext>
            </a:extLst>
          </p:cNvPr>
          <p:cNvSpPr/>
          <p:nvPr/>
        </p:nvSpPr>
        <p:spPr>
          <a:xfrm>
            <a:off x="3435530" y="373381"/>
            <a:ext cx="8308795" cy="266658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274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6DEF83-248D-F6AA-C906-1B015EEF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9101A059-D01F-45B2-429B-36358AE62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1BD25CF-7429-5153-6FA2-4D36D52E981A}"/>
              </a:ext>
            </a:extLst>
          </p:cNvPr>
          <p:cNvSpPr txBox="1"/>
          <p:nvPr/>
        </p:nvSpPr>
        <p:spPr>
          <a:xfrm>
            <a:off x="2700197" y="219538"/>
            <a:ext cx="6162674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Funzione di fitness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1DC3520-D3A8-0EA7-D057-E5AFB3EA01FD}"/>
              </a:ext>
            </a:extLst>
          </p:cNvPr>
          <p:cNvSpPr txBox="1"/>
          <p:nvPr/>
        </p:nvSpPr>
        <p:spPr>
          <a:xfrm>
            <a:off x="2789313" y="765234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Valuta il mazzo</a:t>
            </a:r>
          </a:p>
        </p:txBody>
      </p:sp>
      <p:pic>
        <p:nvPicPr>
          <p:cNvPr id="21" name="Immagine 2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5095720-0B07-C8D3-2E74-7F8BFCC6E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1011324" y="2922382"/>
            <a:ext cx="2414143" cy="2515719"/>
          </a:xfrm>
          <a:prstGeom prst="rect">
            <a:avLst/>
          </a:prstGeom>
        </p:spPr>
      </p:pic>
      <p:pic>
        <p:nvPicPr>
          <p:cNvPr id="23" name="Immagine 22" descr="Immagine che contiene testo, Viso umano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ED8481B-212F-6DCC-3972-1ECA821A1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83" b="6684"/>
          <a:stretch>
            <a:fillRect/>
          </a:stretch>
        </p:blipFill>
        <p:spPr>
          <a:xfrm>
            <a:off x="8858176" y="2922381"/>
            <a:ext cx="2414143" cy="2515719"/>
          </a:xfrm>
          <a:prstGeom prst="rect">
            <a:avLst/>
          </a:prstGeom>
        </p:spPr>
      </p:pic>
      <p:pic>
        <p:nvPicPr>
          <p:cNvPr id="26" name="Immagine 25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8052C6AE-4322-5207-8D82-2412447AB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1419" y="2855395"/>
            <a:ext cx="1677600" cy="1488159"/>
          </a:xfrm>
          <a:prstGeom prst="rect">
            <a:avLst/>
          </a:prstGeom>
        </p:spPr>
      </p:pic>
      <p:pic>
        <p:nvPicPr>
          <p:cNvPr id="27" name="Immagine 26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C6957355-F09F-7A32-2FB3-9CB01EDB20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304" y="2855395"/>
            <a:ext cx="1677063" cy="146528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3EABE67-209E-3B28-E407-76628EBAB380}"/>
              </a:ext>
            </a:extLst>
          </p:cNvPr>
          <p:cNvSpPr txBox="1"/>
          <p:nvPr/>
        </p:nvSpPr>
        <p:spPr>
          <a:xfrm>
            <a:off x="5423859" y="2953885"/>
            <a:ext cx="1244197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3200" dirty="0">
                <a:solidFill>
                  <a:srgbClr val="FEC200"/>
                </a:solidFill>
                <a:latin typeface="You Blockhead" panose="03020502050602020205" pitchFamily="66" charset="0"/>
              </a:rPr>
              <a:t>23.1</a:t>
            </a:r>
          </a:p>
        </p:txBody>
      </p:sp>
      <p:pic>
        <p:nvPicPr>
          <p:cNvPr id="31" name="Immagine 30" descr="Immagine che contiene testo, schermata, giocattol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41D9EC5-BB26-256D-8675-0CCA3606E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7" t="35322" r="26042" b="41969"/>
          <a:stretch>
            <a:fillRect/>
          </a:stretch>
        </p:blipFill>
        <p:spPr>
          <a:xfrm>
            <a:off x="4952394" y="4612307"/>
            <a:ext cx="2285248" cy="64962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CDB3C89-2A64-9426-EDDE-A7F73835368D}"/>
              </a:ext>
            </a:extLst>
          </p:cNvPr>
          <p:cNvSpPr txBox="1"/>
          <p:nvPr/>
        </p:nvSpPr>
        <p:spPr>
          <a:xfrm>
            <a:off x="3583082" y="5367457"/>
            <a:ext cx="5023871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Non è un mazzo eccezionale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73EE3D69-18BE-43B5-5F49-0B27C7FB40C7}"/>
              </a:ext>
            </a:extLst>
          </p:cNvPr>
          <p:cNvSpPr/>
          <p:nvPr/>
        </p:nvSpPr>
        <p:spPr>
          <a:xfrm>
            <a:off x="4436791" y="5283993"/>
            <a:ext cx="3275045" cy="950490"/>
          </a:xfrm>
          <a:prstGeom prst="roundRect">
            <a:avLst/>
          </a:prstGeom>
          <a:noFill/>
          <a:ln w="28575">
            <a:solidFill>
              <a:srgbClr val="875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65462B"/>
                </a:solidFill>
              </a:ln>
              <a:solidFill>
                <a:srgbClr val="65462B"/>
              </a:solidFill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052560ED-4473-274B-C7F3-EA112DEB3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713" y="3725932"/>
            <a:ext cx="452488" cy="853888"/>
          </a:xfrm>
          <a:prstGeom prst="rect">
            <a:avLst/>
          </a:prstGeom>
        </p:spPr>
      </p:pic>
      <p:pic>
        <p:nvPicPr>
          <p:cNvPr id="20" name="Segnaposto contenuto 19" descr="Immagine che contiene nero, cerchio, bianco e nero, design&#10;&#10;Il contenuto generato dall'IA potrebbe non essere corretto.">
            <a:extLst>
              <a:ext uri="{FF2B5EF4-FFF2-40B4-BE49-F238E27FC236}">
                <a16:creationId xmlns:a16="http://schemas.microsoft.com/office/drawing/2014/main" id="{0510670E-5403-F59D-D4AA-957F120BE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33" y="3500062"/>
            <a:ext cx="4412535" cy="2756236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3B6653-C015-891F-2705-B0B9C1702EA6}"/>
              </a:ext>
            </a:extLst>
          </p:cNvPr>
          <p:cNvSpPr txBox="1"/>
          <p:nvPr/>
        </p:nvSpPr>
        <p:spPr>
          <a:xfrm>
            <a:off x="-862046" y="2510428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Bilanciamento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C8D2A56-E389-D090-A263-4CD3BC95BFF6}"/>
              </a:ext>
            </a:extLst>
          </p:cNvPr>
          <p:cNvSpPr txBox="1"/>
          <p:nvPr/>
        </p:nvSpPr>
        <p:spPr>
          <a:xfrm>
            <a:off x="6785630" y="2561225"/>
            <a:ext cx="655923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Statistiche carte</a:t>
            </a:r>
          </a:p>
        </p:txBody>
      </p:sp>
    </p:spTree>
    <p:extLst>
      <p:ext uri="{BB962C8B-B14F-4D97-AF65-F5344CB8AC3E}">
        <p14:creationId xmlns:p14="http://schemas.microsoft.com/office/powerpoint/2010/main" val="396630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58 0.06319 C -0.00521 0.06319 0.04583 -0.00903 0.04583 -0.09723 C 0.04583 -0.18588 -0.00521 -0.25741 -0.06758 -0.25741 C -0.13047 -0.25741 -0.18099 -0.18588 -0.18099 -0.09723 C -0.18099 -0.00903 -0.1349 0.05277 -0.06471 0.06597 C -0.06719 0.06134 -0.06523 0.06759 -0.06758 0.06319 Z " pathEditMode="relative" rAng="0" ptsTypes="AAAAAA">
                                      <p:cBhvr>
                                        <p:cTn id="6" dur="9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74303-2438-4962-2278-D4C65244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AAF92144-60F2-7B19-69E4-8E707129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9139"/>
            <a:ext cx="12191999" cy="70474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D32708-0418-4CFD-F82B-300ECBD541E4}"/>
              </a:ext>
            </a:extLst>
          </p:cNvPr>
          <p:cNvSpPr txBox="1"/>
          <p:nvPr/>
        </p:nvSpPr>
        <p:spPr>
          <a:xfrm>
            <a:off x="2808083" y="103515"/>
            <a:ext cx="6575833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1: Hill climbing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2E5FFE8-9519-E6FE-8AFF-F76660B7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4" y="3002463"/>
            <a:ext cx="2414225" cy="251177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0ED300E-F123-87DA-EE4B-E41F0DC009CF}"/>
              </a:ext>
            </a:extLst>
          </p:cNvPr>
          <p:cNvSpPr txBox="1"/>
          <p:nvPr/>
        </p:nvSpPr>
        <p:spPr>
          <a:xfrm>
            <a:off x="462176" y="2241760"/>
            <a:ext cx="3089959" cy="71558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Mazzo casuale o introdotto da un’ iterazione precedente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26E94E-3303-0D06-4A8E-A379CD915F12}"/>
              </a:ext>
            </a:extLst>
          </p:cNvPr>
          <p:cNvSpPr txBox="1"/>
          <p:nvPr/>
        </p:nvSpPr>
        <p:spPr>
          <a:xfrm>
            <a:off x="1035109" y="5550955"/>
            <a:ext cx="679462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8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Fitness:23.1</a:t>
            </a: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4F48C4B2-07D7-2750-7470-5BC8C7F1D4D8}"/>
              </a:ext>
            </a:extLst>
          </p:cNvPr>
          <p:cNvSpPr/>
          <p:nvPr/>
        </p:nvSpPr>
        <p:spPr>
          <a:xfrm rot="20225975">
            <a:off x="3452082" y="2796535"/>
            <a:ext cx="1692000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Sostituzione carta casuale</a:t>
            </a: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769F1806-1C7C-F00A-2AD4-47F51CBA3490}"/>
              </a:ext>
            </a:extLst>
          </p:cNvPr>
          <p:cNvSpPr/>
          <p:nvPr/>
        </p:nvSpPr>
        <p:spPr>
          <a:xfrm>
            <a:off x="3587416" y="3881732"/>
            <a:ext cx="1692000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Sostituzione carta casuale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3DF1FF1-D9F6-99B0-7EB0-982FD7D409BE}"/>
              </a:ext>
            </a:extLst>
          </p:cNvPr>
          <p:cNvSpPr txBox="1"/>
          <p:nvPr/>
        </p:nvSpPr>
        <p:spPr>
          <a:xfrm>
            <a:off x="4749292" y="1459430"/>
            <a:ext cx="6160882" cy="4001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  <a:sp3d extrusionH="57150">
              <a:bevelT w="38100" h="38100" prst="convex"/>
            </a:sp3d>
          </a:bodyPr>
          <a:lstStyle/>
          <a:p>
            <a:r>
              <a:rPr lang="it-IT" sz="2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Stati «Vicini»</a:t>
            </a:r>
            <a:endParaRPr lang="it-IT" sz="2000" dirty="0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AD139B1D-97A0-4F11-75C2-18AF5952BC66}"/>
              </a:ext>
            </a:extLst>
          </p:cNvPr>
          <p:cNvSpPr/>
          <p:nvPr/>
        </p:nvSpPr>
        <p:spPr>
          <a:xfrm rot="1486901">
            <a:off x="3437163" y="4952075"/>
            <a:ext cx="1692000" cy="775276"/>
          </a:xfrm>
          <a:prstGeom prst="rightArrow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Sostituzione carta casuale</a:t>
            </a:r>
          </a:p>
        </p:txBody>
      </p:sp>
      <p:pic>
        <p:nvPicPr>
          <p:cNvPr id="26" name="Segnaposto contenuto 25" descr="Immagine che contiene testo, software, multimediale, schermata&#10;&#10;Il contenuto generato dall'IA potrebbe non essere corretto.">
            <a:extLst>
              <a:ext uri="{FF2B5EF4-FFF2-40B4-BE49-F238E27FC236}">
                <a16:creationId xmlns:a16="http://schemas.microsoft.com/office/drawing/2014/main" id="{9CCC47CB-617C-5E0B-023B-957153CC2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9" b="36424"/>
          <a:stretch>
            <a:fillRect/>
          </a:stretch>
        </p:blipFill>
        <p:spPr>
          <a:xfrm>
            <a:off x="5436584" y="1845312"/>
            <a:ext cx="1232538" cy="1334378"/>
          </a:xfrm>
        </p:spPr>
      </p:pic>
      <p:pic>
        <p:nvPicPr>
          <p:cNvPr id="28" name="Immagine 2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881AB39E-D5D3-8B0A-604F-8041927F5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5434421" y="3619762"/>
            <a:ext cx="1234701" cy="1334378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94FF960-2953-C7E6-53FB-0A1D9936ED49}"/>
              </a:ext>
            </a:extLst>
          </p:cNvPr>
          <p:cNvSpPr txBox="1"/>
          <p:nvPr/>
        </p:nvSpPr>
        <p:spPr>
          <a:xfrm>
            <a:off x="5381895" y="3188139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2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Fitness:26.3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4F32D71-AFB7-D095-9CE7-5F299C9EE781}"/>
              </a:ext>
            </a:extLst>
          </p:cNvPr>
          <p:cNvSpPr txBox="1"/>
          <p:nvPr/>
        </p:nvSpPr>
        <p:spPr>
          <a:xfrm>
            <a:off x="5352057" y="4911387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2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Fitness:24.9</a:t>
            </a:r>
          </a:p>
        </p:txBody>
      </p:sp>
      <p:pic>
        <p:nvPicPr>
          <p:cNvPr id="34" name="Immagine 3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93C189F-F6D2-5310-63F6-50599924A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5" b="37931"/>
          <a:stretch>
            <a:fillRect/>
          </a:stretch>
        </p:blipFill>
        <p:spPr>
          <a:xfrm>
            <a:off x="5931086" y="5257766"/>
            <a:ext cx="1098382" cy="1160764"/>
          </a:xfrm>
          <a:prstGeom prst="rect">
            <a:avLst/>
          </a:prstGeom>
        </p:spPr>
      </p:pic>
      <p:pic>
        <p:nvPicPr>
          <p:cNvPr id="36" name="Immagine 3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92D6B5B1-B320-FB12-052D-4C980B1C6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6" b="37589"/>
          <a:stretch>
            <a:fillRect/>
          </a:stretch>
        </p:blipFill>
        <p:spPr>
          <a:xfrm>
            <a:off x="5381895" y="5299598"/>
            <a:ext cx="1098383" cy="1160764"/>
          </a:xfrm>
          <a:prstGeom prst="rect">
            <a:avLst/>
          </a:prstGeom>
        </p:spPr>
      </p:pic>
      <p:pic>
        <p:nvPicPr>
          <p:cNvPr id="38" name="Immagine 3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852FBA2-68C5-EAD2-C0E6-616094B793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7" b="37623"/>
          <a:stretch>
            <a:fillRect/>
          </a:stretch>
        </p:blipFill>
        <p:spPr>
          <a:xfrm>
            <a:off x="5931086" y="5496514"/>
            <a:ext cx="1098382" cy="1162368"/>
          </a:xfrm>
          <a:prstGeom prst="rect">
            <a:avLst/>
          </a:prstGeom>
        </p:spPr>
      </p:pic>
      <p:sp>
        <p:nvSpPr>
          <p:cNvPr id="39" name="Freccia a destra 38">
            <a:extLst>
              <a:ext uri="{FF2B5EF4-FFF2-40B4-BE49-F238E27FC236}">
                <a16:creationId xmlns:a16="http://schemas.microsoft.com/office/drawing/2014/main" id="{CDB8000E-031E-8DF4-2C0C-90DB9CB408C7}"/>
              </a:ext>
            </a:extLst>
          </p:cNvPr>
          <p:cNvSpPr/>
          <p:nvPr/>
        </p:nvSpPr>
        <p:spPr>
          <a:xfrm>
            <a:off x="7029468" y="3691046"/>
            <a:ext cx="2008204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Deck con fitness migliore</a:t>
            </a:r>
          </a:p>
        </p:txBody>
      </p:sp>
      <p:pic>
        <p:nvPicPr>
          <p:cNvPr id="40" name="Immagine 3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8EBF4A0-8343-1962-E2AB-A26FF4944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9390007" y="2832369"/>
            <a:ext cx="2367577" cy="2507344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387F03D-BA7E-94DF-A34A-2259E3FC6679}"/>
              </a:ext>
            </a:extLst>
          </p:cNvPr>
          <p:cNvSpPr txBox="1"/>
          <p:nvPr/>
        </p:nvSpPr>
        <p:spPr>
          <a:xfrm>
            <a:off x="9511692" y="5407052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8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Fitness:26.3</a:t>
            </a:r>
          </a:p>
        </p:txBody>
      </p:sp>
      <p:sp>
        <p:nvSpPr>
          <p:cNvPr id="43" name="Arco 42">
            <a:extLst>
              <a:ext uri="{FF2B5EF4-FFF2-40B4-BE49-F238E27FC236}">
                <a16:creationId xmlns:a16="http://schemas.microsoft.com/office/drawing/2014/main" id="{D1D668D2-2A4B-FDAB-51D1-88103745AFF1}"/>
              </a:ext>
            </a:extLst>
          </p:cNvPr>
          <p:cNvSpPr/>
          <p:nvPr/>
        </p:nvSpPr>
        <p:spPr>
          <a:xfrm flipH="1">
            <a:off x="1936721" y="1068752"/>
            <a:ext cx="8523308" cy="2095260"/>
          </a:xfrm>
          <a:prstGeom prst="arc">
            <a:avLst>
              <a:gd name="adj1" fmla="val 10877436"/>
              <a:gd name="adj2" fmla="val 21328737"/>
            </a:avLst>
          </a:prstGeom>
          <a:ln w="76200" cap="flat" cmpd="sng" algn="ctr">
            <a:solidFill>
              <a:srgbClr val="FEC2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955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8EFE57-8BA4-CFBC-E965-FBAA51E7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E2C234AC-DE63-21EC-D882-7B9F3BBD9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7BA79AB-505A-750D-8FA3-CA110D255841}"/>
              </a:ext>
            </a:extLst>
          </p:cNvPr>
          <p:cNvSpPr txBox="1"/>
          <p:nvPr/>
        </p:nvSpPr>
        <p:spPr>
          <a:xfrm>
            <a:off x="2718987" y="230188"/>
            <a:ext cx="675402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1: Hill climbing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BD54D08-5060-5F9F-8A85-1E5D3897FF65}"/>
              </a:ext>
            </a:extLst>
          </p:cNvPr>
          <p:cNvSpPr txBox="1"/>
          <p:nvPr/>
        </p:nvSpPr>
        <p:spPr>
          <a:xfrm>
            <a:off x="3015559" y="764096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Risultati</a:t>
            </a:r>
          </a:p>
        </p:txBody>
      </p:sp>
      <p:pic>
        <p:nvPicPr>
          <p:cNvPr id="14" name="Segnaposto contenuto 13" descr="Immagine che contiene paesaggio, montagna, natura, altopiano&#10;&#10;Il contenuto generato dall'IA potrebbe non essere corretto.">
            <a:extLst>
              <a:ext uri="{FF2B5EF4-FFF2-40B4-BE49-F238E27FC236}">
                <a16:creationId xmlns:a16="http://schemas.microsoft.com/office/drawing/2014/main" id="{EF6C6834-9B8D-2988-B89B-EE18A58ED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36198"/>
            <a:ext cx="6096000" cy="3827146"/>
          </a:xfrm>
        </p:spPr>
      </p:pic>
      <p:pic>
        <p:nvPicPr>
          <p:cNvPr id="20" name="Immagine 1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2C660734-0FC9-D70E-C9C7-978AC9B5D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9" b="37222"/>
          <a:stretch>
            <a:fillRect/>
          </a:stretch>
        </p:blipFill>
        <p:spPr>
          <a:xfrm>
            <a:off x="8395731" y="1876914"/>
            <a:ext cx="1996153" cy="211814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7F9CC5D-CCB7-F43F-CB03-2F70A1FDC3F5}"/>
              </a:ext>
            </a:extLst>
          </p:cNvPr>
          <p:cNvSpPr txBox="1"/>
          <p:nvPr/>
        </p:nvSpPr>
        <p:spPr>
          <a:xfrm>
            <a:off x="8604924" y="1230583"/>
            <a:ext cx="1577765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Fitness:59.4</a:t>
            </a:r>
          </a:p>
        </p:txBody>
      </p:sp>
      <p:pic>
        <p:nvPicPr>
          <p:cNvPr id="24" name="Immagine 23" descr="Immagine che contiene cartone animato, arma, Personaggio immaginario, giocattolo&#10;&#10;Il contenuto generato dall'IA potrebbe non essere corretto.">
            <a:extLst>
              <a:ext uri="{FF2B5EF4-FFF2-40B4-BE49-F238E27FC236}">
                <a16:creationId xmlns:a16="http://schemas.microsoft.com/office/drawing/2014/main" id="{341D0612-9BCA-1693-A924-0837581A9F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55857" y="4026437"/>
            <a:ext cx="1859734" cy="2834235"/>
          </a:xfrm>
          <a:prstGeom prst="rect">
            <a:avLst/>
          </a:prstGeom>
        </p:spPr>
      </p:pic>
      <p:sp>
        <p:nvSpPr>
          <p:cNvPr id="25" name="Fumetto: rettangolo con angoli arrotondati 24">
            <a:extLst>
              <a:ext uri="{FF2B5EF4-FFF2-40B4-BE49-F238E27FC236}">
                <a16:creationId xmlns:a16="http://schemas.microsoft.com/office/drawing/2014/main" id="{64EA0D2C-B078-72B3-FCFB-36E59FF01B92}"/>
              </a:ext>
            </a:extLst>
          </p:cNvPr>
          <p:cNvSpPr/>
          <p:nvPr/>
        </p:nvSpPr>
        <p:spPr>
          <a:xfrm>
            <a:off x="1228438" y="1701376"/>
            <a:ext cx="3930605" cy="2176887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C5DE18D-A508-9F0E-FE25-A4531F7B3EE2}"/>
              </a:ext>
            </a:extLst>
          </p:cNvPr>
          <p:cNvSpPr txBox="1"/>
          <p:nvPr/>
        </p:nvSpPr>
        <p:spPr>
          <a:xfrm>
            <a:off x="1228437" y="2089691"/>
            <a:ext cx="3930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L’</a:t>
            </a:r>
            <a:r>
              <a:rPr kumimoji="0" lang="it-IT" sz="2000" b="1" i="0" u="none" strike="noStrike" kern="1200" cap="none" spc="0" normalizeH="0" baseline="0" noProof="0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Hil</a:t>
            </a:r>
            <a:r>
              <a:rPr lang="it-IT" sz="2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l climbing tende  solamente a salire, andando a trovare sempre i soliti deck </a:t>
            </a:r>
            <a:endParaRPr kumimoji="0" lang="it-IT" sz="20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6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25BACD-3D77-8177-925B-25E17C4A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0D4962CE-73D0-81DA-865C-2CF5B59D6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8" name="Segnaposto contenuto 7" descr="Immagine che contiene giocattolo, Personaggio immaginari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BCEA937D-5F10-E27E-14AE-75F04AB4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580" y="1690688"/>
            <a:ext cx="5418502" cy="5418502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9084809-6B3E-A443-26D6-8D0199AEF08B}"/>
              </a:ext>
            </a:extLst>
          </p:cNvPr>
          <p:cNvSpPr txBox="1"/>
          <p:nvPr/>
        </p:nvSpPr>
        <p:spPr>
          <a:xfrm>
            <a:off x="1943098" y="365125"/>
            <a:ext cx="8305801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2: Algoritmi genetici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2" name="Bolla: nuvola 11">
            <a:extLst>
              <a:ext uri="{FF2B5EF4-FFF2-40B4-BE49-F238E27FC236}">
                <a16:creationId xmlns:a16="http://schemas.microsoft.com/office/drawing/2014/main" id="{DCDF3DF9-46B3-8EB9-22B2-567E0224B641}"/>
              </a:ext>
            </a:extLst>
          </p:cNvPr>
          <p:cNvSpPr/>
          <p:nvPr/>
        </p:nvSpPr>
        <p:spPr>
          <a:xfrm flipH="1">
            <a:off x="253116" y="1094448"/>
            <a:ext cx="7786360" cy="4980496"/>
          </a:xfrm>
          <a:prstGeom prst="cloudCallout">
            <a:avLst>
              <a:gd name="adj1" fmla="val -64080"/>
              <a:gd name="adj2" fmla="val 2962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4" name="Immagine 13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C1595223-B723-58D2-2875-D7AE353D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30" y="2690884"/>
            <a:ext cx="1302274" cy="893812"/>
          </a:xfrm>
          <a:prstGeom prst="rect">
            <a:avLst/>
          </a:prstGeom>
        </p:spPr>
      </p:pic>
      <p:pic>
        <p:nvPicPr>
          <p:cNvPr id="16" name="Immagine 15" descr="Immagine che contiene giocattolo, figurina, arm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F8A03E2-899C-2F3E-982F-B281C202F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0" y="2371703"/>
            <a:ext cx="1723857" cy="1723857"/>
          </a:xfrm>
          <a:prstGeom prst="rect">
            <a:avLst/>
          </a:prstGeom>
        </p:spPr>
      </p:pic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B558B7C1-B3FE-78B4-3FAA-3220646A44D8}"/>
              </a:ext>
            </a:extLst>
          </p:cNvPr>
          <p:cNvSpPr/>
          <p:nvPr/>
        </p:nvSpPr>
        <p:spPr>
          <a:xfrm>
            <a:off x="3981635" y="2828411"/>
            <a:ext cx="1448934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Evoluzione</a:t>
            </a:r>
          </a:p>
        </p:txBody>
      </p:sp>
      <p:pic>
        <p:nvPicPr>
          <p:cNvPr id="18" name="Immagine 17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86B72EEA-B16B-7B78-30B8-773457A52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65" y="3323667"/>
            <a:ext cx="1302274" cy="893812"/>
          </a:xfrm>
          <a:prstGeom prst="rect">
            <a:avLst/>
          </a:prstGeom>
        </p:spPr>
      </p:pic>
      <p:pic>
        <p:nvPicPr>
          <p:cNvPr id="19" name="Immagine 18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F69ACD0B-1A97-538F-5C4F-CAB4787B3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054" y="2970254"/>
            <a:ext cx="1302274" cy="893812"/>
          </a:xfrm>
          <a:prstGeom prst="rect">
            <a:avLst/>
          </a:prstGeom>
        </p:spPr>
      </p:pic>
      <p:pic>
        <p:nvPicPr>
          <p:cNvPr id="20" name="Immagine 19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8C093DEC-1AB1-B4F1-B277-B6E9A8060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889" y="2593565"/>
            <a:ext cx="1302274" cy="893812"/>
          </a:xfrm>
          <a:prstGeom prst="rect">
            <a:avLst/>
          </a:prstGeom>
        </p:spPr>
      </p:pic>
      <p:pic>
        <p:nvPicPr>
          <p:cNvPr id="21" name="Immagine 20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53A9AECD-4CF3-4C18-8956-4D3C1D6DC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124" y="2673512"/>
            <a:ext cx="1302274" cy="893812"/>
          </a:xfrm>
          <a:prstGeom prst="rect">
            <a:avLst/>
          </a:prstGeom>
        </p:spPr>
      </p:pic>
      <p:pic>
        <p:nvPicPr>
          <p:cNvPr id="22" name="Immagine 21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4BEA4788-6C29-163D-44FA-546B4E53D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632" y="3407430"/>
            <a:ext cx="1302274" cy="89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4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8A7033-660F-93E0-62CF-124B0F54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" name="Segnaposto contenuto 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A3F351F-4EC7-C22C-B5D9-38DCBF7A1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586" y="1825625"/>
            <a:ext cx="1956827" cy="4351338"/>
          </a:xfrm>
        </p:spPr>
      </p:pic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FAFB095-43FD-EE0B-2963-9FEF8C6B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28" name="Immagine 27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A7DA879F-D98C-602D-385A-0E4957D40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02" y="3633973"/>
            <a:ext cx="4080390" cy="408039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5310BC-132B-5AAE-8781-3E54E7161FD4}"/>
              </a:ext>
            </a:extLst>
          </p:cNvPr>
          <p:cNvSpPr txBox="1"/>
          <p:nvPr/>
        </p:nvSpPr>
        <p:spPr>
          <a:xfrm>
            <a:off x="2015904" y="157817"/>
            <a:ext cx="8160190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2: Algoritmi genetici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2FE1158-008C-F622-8BFA-5DA044C39BE6}"/>
              </a:ext>
            </a:extLst>
          </p:cNvPr>
          <p:cNvSpPr txBox="1"/>
          <p:nvPr/>
        </p:nvSpPr>
        <p:spPr>
          <a:xfrm>
            <a:off x="3047245" y="7033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Opeatori:Rank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</a:t>
            </a: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selection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14" name="Immagine 1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FD8E37E-FE02-18BC-E75F-6976C6D51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8" b="36697"/>
          <a:stretch>
            <a:fillRect/>
          </a:stretch>
        </p:blipFill>
        <p:spPr>
          <a:xfrm>
            <a:off x="3264932" y="4079591"/>
            <a:ext cx="1241584" cy="1351779"/>
          </a:xfrm>
          <a:prstGeom prst="rect">
            <a:avLst/>
          </a:prstGeom>
          <a:ln>
            <a:solidFill>
              <a:srgbClr val="875F29"/>
            </a:solidFill>
          </a:ln>
        </p:spPr>
      </p:pic>
      <p:pic>
        <p:nvPicPr>
          <p:cNvPr id="24" name="Immagine 2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D5C5E217-C159-46CF-F714-C005E17FB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1923958" y="3164988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26" name="Immagine 2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88864EF-F80A-EB23-D968-36408B6650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556297" y="3792156"/>
            <a:ext cx="1250178" cy="1351779"/>
          </a:xfrm>
          <a:prstGeom prst="rect">
            <a:avLst/>
          </a:prstGeom>
          <a:ln>
            <a:solidFill>
              <a:srgbClr val="B2B2B2"/>
            </a:solidFill>
          </a:ln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832A8760-220F-E905-CBC0-B8C2F20C187F}"/>
              </a:ext>
            </a:extLst>
          </p:cNvPr>
          <p:cNvSpPr txBox="1"/>
          <p:nvPr/>
        </p:nvSpPr>
        <p:spPr>
          <a:xfrm>
            <a:off x="-559372" y="4554692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Fitness:29.4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AB679CA-9C8B-779C-0AF8-4B86605C08CB}"/>
              </a:ext>
            </a:extLst>
          </p:cNvPr>
          <p:cNvSpPr txBox="1"/>
          <p:nvPr/>
        </p:nvSpPr>
        <p:spPr>
          <a:xfrm>
            <a:off x="-647761" y="2741972"/>
            <a:ext cx="6391746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50%</a:t>
            </a:r>
            <a:endParaRPr kumimoji="0" lang="it-IT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2696B7B-53BC-4512-BE84-8357822B4B3A}"/>
              </a:ext>
            </a:extLst>
          </p:cNvPr>
          <p:cNvSpPr txBox="1"/>
          <p:nvPr/>
        </p:nvSpPr>
        <p:spPr>
          <a:xfrm>
            <a:off x="-2065328" y="5221382"/>
            <a:ext cx="6446066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Fitness:18.1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3D5E5C0-9AC3-F963-0749-EA16156AAD7E}"/>
              </a:ext>
            </a:extLst>
          </p:cNvPr>
          <p:cNvSpPr txBox="1"/>
          <p:nvPr/>
        </p:nvSpPr>
        <p:spPr>
          <a:xfrm>
            <a:off x="-2390206" y="3446372"/>
            <a:ext cx="7143184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33%</a:t>
            </a:r>
            <a:endParaRPr kumimoji="0" lang="it-IT" sz="1600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76B36AE-0D45-C441-22E9-651201A7826A}"/>
              </a:ext>
            </a:extLst>
          </p:cNvPr>
          <p:cNvSpPr txBox="1"/>
          <p:nvPr/>
        </p:nvSpPr>
        <p:spPr>
          <a:xfrm>
            <a:off x="225792" y="3666999"/>
            <a:ext cx="731986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875F29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17</a:t>
            </a:r>
            <a:r>
              <a:rPr lang="it-IT" sz="1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875F29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%</a:t>
            </a:r>
            <a:endParaRPr kumimoji="0" lang="it-IT" sz="1800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875F29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423D0DD1-16C9-F805-2939-40263E9DD7C4}"/>
              </a:ext>
            </a:extLst>
          </p:cNvPr>
          <p:cNvSpPr txBox="1"/>
          <p:nvPr/>
        </p:nvSpPr>
        <p:spPr>
          <a:xfrm>
            <a:off x="220204" y="5485618"/>
            <a:ext cx="7319864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</a:t>
            </a:r>
            <a:r>
              <a:rPr lang="it-IT" sz="12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6.9</a:t>
            </a:r>
            <a:endParaRPr kumimoji="0" lang="it-IT" sz="12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41" name="Freccia a destra 40">
            <a:extLst>
              <a:ext uri="{FF2B5EF4-FFF2-40B4-BE49-F238E27FC236}">
                <a16:creationId xmlns:a16="http://schemas.microsoft.com/office/drawing/2014/main" id="{16C423B1-0E15-0BE8-9DB1-AEF30492A7DB}"/>
              </a:ext>
            </a:extLst>
          </p:cNvPr>
          <p:cNvSpPr/>
          <p:nvPr/>
        </p:nvSpPr>
        <p:spPr>
          <a:xfrm>
            <a:off x="4857349" y="3429000"/>
            <a:ext cx="2688306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Selezione in base alle probabilità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96E2E32E-D048-57F7-2590-19AE08FB2238}"/>
              </a:ext>
            </a:extLst>
          </p:cNvPr>
          <p:cNvSpPr/>
          <p:nvPr/>
        </p:nvSpPr>
        <p:spPr>
          <a:xfrm>
            <a:off x="7724801" y="1898352"/>
            <a:ext cx="3013788" cy="352465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122A6C1-F0B2-A9B4-10C8-4F0077E0F1C3}"/>
              </a:ext>
            </a:extLst>
          </p:cNvPr>
          <p:cNvSpPr txBox="1"/>
          <p:nvPr/>
        </p:nvSpPr>
        <p:spPr>
          <a:xfrm>
            <a:off x="5569589" y="2018303"/>
            <a:ext cx="731986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Mating</a:t>
            </a:r>
            <a:r>
              <a:rPr lang="it-IT" sz="1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 pool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pic>
        <p:nvPicPr>
          <p:cNvPr id="45" name="Immagine 4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D5E1593-F95D-6EF5-1DEC-5E29736CD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9270342" y="2392009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46" name="Immagine 4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8670E91-DD00-CF26-A729-0A3405A9E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7978634" y="2387635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47" name="Immagine 4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1F6DB998-29A3-8EB8-AEAD-8C634698E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7980096" y="3741859"/>
            <a:ext cx="1250178" cy="1351779"/>
          </a:xfrm>
          <a:prstGeom prst="rect">
            <a:avLst/>
          </a:prstGeom>
          <a:ln>
            <a:solidFill>
              <a:srgbClr val="B2B2B2"/>
            </a:solidFill>
          </a:ln>
        </p:spPr>
      </p:pic>
      <p:pic>
        <p:nvPicPr>
          <p:cNvPr id="48" name="Immagine 4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3F29777-7F7F-B031-82E4-F79B538D1A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8" b="36697"/>
          <a:stretch>
            <a:fillRect/>
          </a:stretch>
        </p:blipFill>
        <p:spPr>
          <a:xfrm>
            <a:off x="9270342" y="3749759"/>
            <a:ext cx="1241584" cy="1351779"/>
          </a:xfrm>
          <a:prstGeom prst="rect">
            <a:avLst/>
          </a:prstGeom>
          <a:ln>
            <a:solidFill>
              <a:srgbClr val="875F29"/>
            </a:solidFill>
          </a:ln>
        </p:spPr>
      </p:pic>
      <p:pic>
        <p:nvPicPr>
          <p:cNvPr id="50" name="Immagine 49" descr="Immagine che contiene Personaggio immaginario, Animazione, figurina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D19E44D4-810D-4562-27E9-7E521818C0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91"/>
          <a:stretch>
            <a:fillRect/>
          </a:stretch>
        </p:blipFill>
        <p:spPr>
          <a:xfrm>
            <a:off x="6323440" y="5241742"/>
            <a:ext cx="1477678" cy="1612333"/>
          </a:xfrm>
          <a:prstGeom prst="rect">
            <a:avLst/>
          </a:prstGeom>
        </p:spPr>
      </p:pic>
      <p:pic>
        <p:nvPicPr>
          <p:cNvPr id="52" name="Immagine 51" descr="Immagine che contiene Personaggio immaginario, Animazione, figurina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7F32ACB1-29F7-A16B-9F82-8480A63BC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7"/>
          <a:stretch>
            <a:fillRect/>
          </a:stretch>
        </p:blipFill>
        <p:spPr>
          <a:xfrm>
            <a:off x="10693190" y="5101538"/>
            <a:ext cx="1498810" cy="176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3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BE9B0-F670-B616-D152-9B1112FB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8D8C1255-5AE7-0A57-072D-63AC26AD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10" name="Segnaposto contenuto 9" descr="Immagine che contiene cartone animato, Personaggio immaginario, action figure, Animazione&#10;&#10;Il contenuto generato dall'IA potrebbe non essere corretto.">
            <a:extLst>
              <a:ext uri="{FF2B5EF4-FFF2-40B4-BE49-F238E27FC236}">
                <a16:creationId xmlns:a16="http://schemas.microsoft.com/office/drawing/2014/main" id="{ED7518B1-8980-DA99-A95F-B4583A846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95" y="5022334"/>
            <a:ext cx="3281640" cy="1847770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707296-6FEA-08AA-1EC4-03BA87B5FB4B}"/>
              </a:ext>
            </a:extLst>
          </p:cNvPr>
          <p:cNvSpPr txBox="1"/>
          <p:nvPr/>
        </p:nvSpPr>
        <p:spPr>
          <a:xfrm>
            <a:off x="1927633" y="103515"/>
            <a:ext cx="8336732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Soluzione 2: Algoritmi genetici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BD9584-4755-0AC6-315E-FC96CD2EEA4F}"/>
              </a:ext>
            </a:extLst>
          </p:cNvPr>
          <p:cNvSpPr txBox="1"/>
          <p:nvPr/>
        </p:nvSpPr>
        <p:spPr>
          <a:xfrm>
            <a:off x="3015558" y="681037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Opeatori:Uniform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crossover</a:t>
            </a:r>
          </a:p>
        </p:txBody>
      </p:sp>
      <p:pic>
        <p:nvPicPr>
          <p:cNvPr id="12" name="Immagine 11" descr="Immagine che contiene clipart, Cartoni animat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CDA443E2-8D4B-29DE-D799-F4AE8DD67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174" y="4164538"/>
            <a:ext cx="540514" cy="694637"/>
          </a:xfrm>
          <a:prstGeom prst="rect">
            <a:avLst/>
          </a:prstGeom>
        </p:spPr>
      </p:pic>
      <p:sp>
        <p:nvSpPr>
          <p:cNvPr id="13" name="Bolla: nuvola 12">
            <a:extLst>
              <a:ext uri="{FF2B5EF4-FFF2-40B4-BE49-F238E27FC236}">
                <a16:creationId xmlns:a16="http://schemas.microsoft.com/office/drawing/2014/main" id="{2D7C751B-8E4D-0B06-D73A-279AE822FB58}"/>
              </a:ext>
            </a:extLst>
          </p:cNvPr>
          <p:cNvSpPr/>
          <p:nvPr/>
        </p:nvSpPr>
        <p:spPr>
          <a:xfrm>
            <a:off x="5675908" y="4066161"/>
            <a:ext cx="1177047" cy="1006984"/>
          </a:xfrm>
          <a:prstGeom prst="cloudCallout">
            <a:avLst>
              <a:gd name="adj1" fmla="val -47279"/>
              <a:gd name="adj2" fmla="val 5573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B2145BD-33E4-B9C0-6519-B202DD09D6E8}"/>
              </a:ext>
            </a:extLst>
          </p:cNvPr>
          <p:cNvSpPr/>
          <p:nvPr/>
        </p:nvSpPr>
        <p:spPr>
          <a:xfrm>
            <a:off x="6591010" y="4912677"/>
            <a:ext cx="144120" cy="1507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742398C7-DEFF-43BC-04E7-C9CDE9BBC5CA}"/>
              </a:ext>
            </a:extLst>
          </p:cNvPr>
          <p:cNvSpPr/>
          <p:nvPr/>
        </p:nvSpPr>
        <p:spPr>
          <a:xfrm>
            <a:off x="6663070" y="4988028"/>
            <a:ext cx="109545" cy="1296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38A2BD4-0002-5E59-CF41-C8FDEAB7CD7B}"/>
              </a:ext>
            </a:extLst>
          </p:cNvPr>
          <p:cNvSpPr/>
          <p:nvPr/>
        </p:nvSpPr>
        <p:spPr>
          <a:xfrm>
            <a:off x="6729580" y="5063380"/>
            <a:ext cx="45719" cy="6389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9CE7EA4-B26F-C183-B23A-DE8B60EAD2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454342" y="2095196"/>
            <a:ext cx="1790917" cy="1879588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18" name="Immagine 1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D58E4FD-D493-98B4-285F-2589BDF9B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3152275" y="2090694"/>
            <a:ext cx="1790917" cy="1879588"/>
          </a:xfrm>
          <a:prstGeom prst="rect">
            <a:avLst/>
          </a:prstGeom>
          <a:ln>
            <a:solidFill>
              <a:srgbClr val="B2B2B2"/>
            </a:solidFill>
          </a:ln>
        </p:spPr>
      </p:pic>
      <p:pic>
        <p:nvPicPr>
          <p:cNvPr id="24" name="Immagine 23" descr="Immagine che contiene cuore, San Valentino, rosso&#10;&#10;Il contenuto generato dall'IA potrebbe non essere corretto.">
            <a:extLst>
              <a:ext uri="{FF2B5EF4-FFF2-40B4-BE49-F238E27FC236}">
                <a16:creationId xmlns:a16="http://schemas.microsoft.com/office/drawing/2014/main" id="{3DD10C17-0DC2-8D68-0A48-2EBD16D33D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53" y="2797291"/>
            <a:ext cx="736994" cy="631709"/>
          </a:xfrm>
          <a:prstGeom prst="rect">
            <a:avLst/>
          </a:prstGeom>
        </p:spPr>
      </p:pic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EDE4A406-E794-15DC-942E-610936A9D9DB}"/>
              </a:ext>
            </a:extLst>
          </p:cNvPr>
          <p:cNvSpPr/>
          <p:nvPr/>
        </p:nvSpPr>
        <p:spPr>
          <a:xfrm>
            <a:off x="5246857" y="2523347"/>
            <a:ext cx="2593444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endParaRPr lang="it-IT" sz="1000" dirty="0">
              <a:solidFill>
                <a:schemeClr val="tx1">
                  <a:lumMod val="85000"/>
                  <a:lumOff val="15000"/>
                </a:schemeClr>
              </a:solidFill>
              <a:latin typeface="You Blockhead" panose="03020502050602020205" pitchFamily="66" charset="0"/>
            </a:endParaRPr>
          </a:p>
        </p:txBody>
      </p:sp>
      <p:pic>
        <p:nvPicPr>
          <p:cNvPr id="27" name="Immagine 2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0D5F6C6-018D-C310-A0B6-2FCE6D3BA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4" b="38200"/>
          <a:stretch>
            <a:fillRect/>
          </a:stretch>
        </p:blipFill>
        <p:spPr>
          <a:xfrm>
            <a:off x="8506771" y="1434143"/>
            <a:ext cx="2706952" cy="2815632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0B7DFFC-CAB9-33F6-8876-8519F6D2DD6B}"/>
              </a:ext>
            </a:extLst>
          </p:cNvPr>
          <p:cNvSpPr txBox="1"/>
          <p:nvPr/>
        </p:nvSpPr>
        <p:spPr>
          <a:xfrm>
            <a:off x="-1698954" y="3970282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Fitness:29.4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79CA6DA-DB76-C2AD-64E8-28CAA1414D04}"/>
              </a:ext>
            </a:extLst>
          </p:cNvPr>
          <p:cNvSpPr txBox="1"/>
          <p:nvPr/>
        </p:nvSpPr>
        <p:spPr>
          <a:xfrm>
            <a:off x="573466" y="3946073"/>
            <a:ext cx="6948534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Fitness:18.1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6CBEB28-1309-B76A-97CE-69550D98BABB}"/>
              </a:ext>
            </a:extLst>
          </p:cNvPr>
          <p:cNvSpPr txBox="1"/>
          <p:nvPr/>
        </p:nvSpPr>
        <p:spPr>
          <a:xfrm>
            <a:off x="6372423" y="4229320"/>
            <a:ext cx="6980220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</a:t>
            </a: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26.8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68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21AC8-CA88-59F2-3914-395F63BF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A6862A-45E4-4409-527F-064AFCBD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958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PresentazioneFia-DeckBUilderCR</Template>
  <TotalTime>286</TotalTime>
  <Words>166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You Blockhead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DE CARO</dc:creator>
  <cp:lastModifiedBy>GIOVANNI DE CARO</cp:lastModifiedBy>
  <cp:revision>9</cp:revision>
  <dcterms:created xsi:type="dcterms:W3CDTF">2026-01-27T00:50:46Z</dcterms:created>
  <dcterms:modified xsi:type="dcterms:W3CDTF">2026-01-27T17:45:45Z</dcterms:modified>
</cp:coreProperties>
</file>